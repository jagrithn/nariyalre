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agrithn/nariyalre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Jagrithn/nariyalr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280160"/>
            <a:ext cx="6766560" cy="6766560"/>
          </a:xfrm>
          <a:prstGeom prst="roundRect">
            <a:avLst>
              <a:gd name="adj" fmla="val 6757"/>
            </a:avLst>
          </a:prstGeom>
          <a:solidFill>
            <a:srgbClr val="065F46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4480560"/>
            <a:ext cx="5669280" cy="5669280"/>
          </a:xfrm>
          <a:prstGeom prst="roundRect">
            <a:avLst>
              <a:gd name="adj" fmla="val 8065"/>
            </a:avLst>
          </a:prstGeom>
          <a:solidFill>
            <a:srgbClr val="F59E0B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54480"/>
            <a:ext cx="65836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Coconut waste</a:t>
            </a:r>
            <a:endParaRPr lang="en-US" sz="42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4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new gold.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3886200"/>
            <a:ext cx="5852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Coco intercepts urban coconut waste at the source — temples, vendors, homes — and turns shells, husk and pith into products, payouts and livelihoods. All tracked, priced and circular.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5212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5623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recycled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94560" y="5212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194560" y="5623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shells diverted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49040" y="5212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49040" y="5623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employed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303520" y="52120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03520" y="5623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live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CD3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that works.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0" y="1234440"/>
            <a:ext cx="4206240" cy="2628900"/>
          </a:xfrm>
          <a:prstGeom prst="roundRect">
            <a:avLst>
              <a:gd name="adj" fmla="val 522"/>
            </a:avLst>
          </a:prstGeom>
          <a:solidFill>
            <a:srgbClr val="0B1322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17" name="Image 0" descr=".deck/landing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65675" y="1287018"/>
            <a:ext cx="4105290" cy="2523744"/>
          </a:xfrm>
          <a:prstGeom prst="rect">
            <a:avLst/>
          </a:prstGeom>
        </p:spPr>
      </p:pic>
      <p:sp>
        <p:nvSpPr>
          <p:cNvPr id="18" name="Shape 15"/>
          <p:cNvSpPr/>
          <p:nvPr/>
        </p:nvSpPr>
        <p:spPr>
          <a:xfrm>
            <a:off x="7365675" y="1244956"/>
            <a:ext cx="4105290" cy="42062"/>
          </a:xfrm>
          <a:prstGeom prst="rect">
            <a:avLst/>
          </a:prstGeom>
          <a:solidFill>
            <a:srgbClr val="0B1322"/>
          </a:solidFill>
          <a:ln/>
        </p:spPr>
      </p:sp>
      <p:sp>
        <p:nvSpPr>
          <p:cNvPr id="19" name="Shape 16"/>
          <p:cNvSpPr/>
          <p:nvPr/>
        </p:nvSpPr>
        <p:spPr>
          <a:xfrm>
            <a:off x="7205472" y="1124712"/>
            <a:ext cx="4425696" cy="2848356"/>
          </a:xfrm>
          <a:prstGeom prst="roundRect">
            <a:avLst>
              <a:gd name="adj" fmla="val 1284"/>
            </a:avLst>
          </a:prstGeom>
          <a:solidFill>
            <a:srgbClr val="064E3B"/>
          </a:solidFill>
          <a:ln w="6350">
            <a:solidFill>
              <a:srgbClr val="A7F3D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NOBODY SEES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morning coconut ends up here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46304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37360"/>
            <a:ext cx="3566160" cy="42062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011680"/>
            <a:ext cx="640080" cy="640080"/>
          </a:xfrm>
          <a:prstGeom prst="roundRect">
            <a:avLst>
              <a:gd name="adj" fmla="val 35714"/>
            </a:avLst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smoulders for years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342900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Chennai landfills receive hundreds of tonnes of coconut waste daily. Husks burn slowly — releasing methane and CO₂ for years.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737360"/>
            <a:ext cx="3566160" cy="42062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2011680"/>
            <a:ext cx="640080" cy="640080"/>
          </a:xfrm>
          <a:prstGeom prst="roundRect">
            <a:avLst>
              <a:gd name="adj" fmla="val 35714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Collectors work informal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63440" y="342900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routing, no fair weighing, no receipts. Grab, weigh-by-eye, cash-offers. Earners are invisible to banks and to the system.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0" y="1737360"/>
            <a:ext cx="3566160" cy="42062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03920" y="2011680"/>
            <a:ext cx="640080" cy="640080"/>
          </a:xfrm>
          <a:prstGeom prst="roundRect">
            <a:avLst>
              <a:gd name="adj" fmla="val 35714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has no proof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03920" y="3429000"/>
            <a:ext cx="3063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can answer: how much was diverted? By whom? To where? For what? Every kilo is untraceable waste, not asset.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48640" y="61264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1,218,490 kg</a:t>
            </a:r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already recycled by the Coco demo network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Coco circular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46304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7780">
            <a:solidFill>
              <a:srgbClr val="D1FA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37744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Temples, vendors &amp; consumers hand over shells, husk, pith.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778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377440" y="4617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&amp; weigh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22960" y="5303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fleet or vending machines. QR-verified kg, instant UPI.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778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046720" y="20574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27432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Fiber, cocopeat, blocks &amp; compost — via rural women's SHGs.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17920" y="4389120"/>
            <a:ext cx="53949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7780">
            <a:solidFill>
              <a:srgbClr val="FEF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572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8046720" y="461772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Buy &amp; earn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92240" y="530352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sells what the loop makes; earners get paid per kg.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LOOP, FIVE ROLES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interface is role-shaped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46304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04825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1874520"/>
            <a:ext cx="384048" cy="384048"/>
          </a:xfrm>
          <a:prstGeom prst="roundRect">
            <a:avLst>
              <a:gd name="adj" fmla="val 59524"/>
            </a:avLst>
          </a:prstGeom>
          <a:solidFill>
            <a:srgbClr val="059669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1975104"/>
            <a:ext cx="182880" cy="1828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9808" y="27432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Temples &amp; vendors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79776" y="1691640"/>
            <a:ext cx="204825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80944" y="1874520"/>
            <a:ext cx="384048" cy="384048"/>
          </a:xfrm>
          <a:prstGeom prst="roundRect">
            <a:avLst>
              <a:gd name="adj" fmla="val 59524"/>
            </a:avLst>
          </a:prstGeom>
          <a:solidFill>
            <a:srgbClr val="0D9488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081528" y="1975104"/>
            <a:ext cx="182880" cy="1828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980944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2980944" y="27432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Routed drivers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10912" y="1691640"/>
            <a:ext cx="204825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0" y="1874520"/>
            <a:ext cx="384048" cy="384048"/>
          </a:xfrm>
          <a:prstGeom prst="roundRect">
            <a:avLst>
              <a:gd name="adj" fmla="val 59524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312664" y="1975104"/>
            <a:ext cx="182880" cy="1828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212080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5212080" y="27432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&amp; drop waste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42048" y="1691640"/>
            <a:ext cx="204825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43216" y="1874520"/>
            <a:ext cx="384048" cy="384048"/>
          </a:xfrm>
          <a:prstGeom prst="roundRect">
            <a:avLst>
              <a:gd name="adj" fmla="val 59524"/>
            </a:avLst>
          </a:prstGeom>
          <a:solidFill>
            <a:srgbClr val="334155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543800" y="1975104"/>
            <a:ext cx="182880" cy="18288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7443216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Depot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7443216" y="27432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Weighbridge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473184" y="1691640"/>
            <a:ext cx="2048256" cy="17830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74352" y="1874520"/>
            <a:ext cx="384048" cy="384048"/>
          </a:xfrm>
          <a:prstGeom prst="roundRect">
            <a:avLst>
              <a:gd name="adj" fmla="val 59524"/>
            </a:avLst>
          </a:prstGeom>
          <a:solidFill>
            <a:srgbClr val="7C3AED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9774936" y="1975104"/>
            <a:ext cx="182880" cy="1828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8" name="Text 26"/>
          <p:cNvSpPr/>
          <p:nvPr/>
        </p:nvSpPr>
        <p:spPr>
          <a:xfrm>
            <a:off x="9674352" y="237744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9674352" y="2743200"/>
            <a:ext cx="1691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Tri-tier ops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36576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Full-featured operations console — real-time analytics, batches, distribution: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48640" y="3977640"/>
            <a:ext cx="11091672" cy="6932295"/>
          </a:xfrm>
          <a:prstGeom prst="roundRect">
            <a:avLst>
              <a:gd name="adj" fmla="val 198"/>
            </a:avLst>
          </a:prstGeom>
          <a:solidFill>
            <a:srgbClr val="0B1322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32" name="Image 0" descr=".deck/admi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1740" y="4116286"/>
            <a:ext cx="10825472" cy="6655003"/>
          </a:xfrm>
          <a:prstGeom prst="rect">
            <a:avLst/>
          </a:prstGeom>
        </p:spPr>
      </p:pic>
      <p:sp>
        <p:nvSpPr>
          <p:cNvPr id="33" name="Shape 30"/>
          <p:cNvSpPr/>
          <p:nvPr/>
        </p:nvSpPr>
        <p:spPr>
          <a:xfrm>
            <a:off x="681740" y="4005369"/>
            <a:ext cx="10825472" cy="110917"/>
          </a:xfrm>
          <a:prstGeom prst="rect">
            <a:avLst/>
          </a:prstGeom>
          <a:solidFill>
            <a:srgbClr val="0B1322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 PAY, EVERY KILO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Collectors earn ₹2.5/kg — instantly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46304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jobs on a map, sorted by distance with slot filters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to accept, then an immersive turn-by-turn route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Weigh-in at the depot is QR-verified — paid on measured kg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 tab: balance, payouts (Pending / Paid / Rejected) and UPI withdraw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2286000" cy="4947138"/>
          </a:xfrm>
          <a:prstGeom prst="roundRect">
            <a:avLst>
              <a:gd name="adj" fmla="val 3600"/>
            </a:avLst>
          </a:prstGeom>
          <a:solidFill>
            <a:srgbClr val="0B1322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7" name="Image 0" descr=".deck/collector-hom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35724" y="1925351"/>
            <a:ext cx="2130552" cy="45711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796726"/>
            <a:ext cx="731520" cy="89048"/>
          </a:xfrm>
          <a:prstGeom prst="roundRect">
            <a:avLst>
              <a:gd name="adj" fmla="val 513431"/>
            </a:avLst>
          </a:prstGeom>
          <a:solidFill>
            <a:srgbClr val="0B132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64040" y="1737360"/>
            <a:ext cx="2286000" cy="4947138"/>
          </a:xfrm>
          <a:prstGeom prst="roundRect">
            <a:avLst>
              <a:gd name="adj" fmla="val 3600"/>
            </a:avLst>
          </a:prstGeom>
          <a:solidFill>
            <a:srgbClr val="0B1322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10" name="Image 1" descr=".deck/collector-earning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41764" y="1925351"/>
            <a:ext cx="2130552" cy="45711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241280" y="1796726"/>
            <a:ext cx="731520" cy="89048"/>
          </a:xfrm>
          <a:prstGeom prst="roundRect">
            <a:avLst>
              <a:gd name="adj" fmla="val 513431"/>
            </a:avLst>
          </a:prstGeom>
          <a:solidFill>
            <a:srgbClr val="0B132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sign in as Collector, phone +91 97400 00011, OTP 420420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SCHEDULING THAT ACTUALLY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 a slot. Watch the collector live.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46304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6126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One-tap pickup requests with automatic GPS tagging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Slots: Now · Morning · Midday · Afternoon · Evening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Slot reminders push 45 min before the window opens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tracking card — collector distance, ETA and mini-map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49440" y="1737360"/>
            <a:ext cx="2286000" cy="4947138"/>
          </a:xfrm>
          <a:prstGeom prst="roundRect">
            <a:avLst>
              <a:gd name="adj" fmla="val 3600"/>
            </a:avLst>
          </a:prstGeom>
          <a:solidFill>
            <a:srgbClr val="0B1322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7" name="Image 0" descr=".deck/generato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027164" y="1925351"/>
            <a:ext cx="2130552" cy="45711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796726"/>
            <a:ext cx="731520" cy="89048"/>
          </a:xfrm>
          <a:prstGeom prst="roundRect">
            <a:avLst>
              <a:gd name="adj" fmla="val 513431"/>
            </a:avLst>
          </a:prstGeom>
          <a:solidFill>
            <a:srgbClr val="0B132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works fully offline — requests queue on-device and reconcile later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MARKET CATCHES THE WASTE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Shop the loop, feed a machine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46304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91640"/>
            <a:ext cx="6035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sells goods made from diverted coconut waste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checkout — every order shows its diverted kg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24×7 vending machines pay ₹6/kg the moment you drop</a:t>
            </a:r>
            <a:endParaRPr lang="en-US" sz="14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Deposit calculator + nearest-machine map and route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2286000" cy="4947138"/>
          </a:xfrm>
          <a:prstGeom prst="roundRect">
            <a:avLst>
              <a:gd name="adj" fmla="val 3600"/>
            </a:avLst>
          </a:prstGeom>
          <a:solidFill>
            <a:srgbClr val="0B1322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7" name="Image 0" descr=".deck/consumer-sh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35724" y="1925351"/>
            <a:ext cx="2130552" cy="457115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796726"/>
            <a:ext cx="731520" cy="89048"/>
          </a:xfrm>
          <a:prstGeom prst="roundRect">
            <a:avLst>
              <a:gd name="adj" fmla="val 513431"/>
            </a:avLst>
          </a:prstGeom>
          <a:solidFill>
            <a:srgbClr val="0B132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464040" y="1737360"/>
            <a:ext cx="2286000" cy="4947138"/>
          </a:xfrm>
          <a:prstGeom prst="roundRect">
            <a:avLst>
              <a:gd name="adj" fmla="val 3600"/>
            </a:avLst>
          </a:prstGeom>
          <a:solidFill>
            <a:srgbClr val="0B1322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10" name="Image 1" descr=".deck/consumer-machine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541764" y="1925351"/>
            <a:ext cx="2130552" cy="45711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241280" y="1796726"/>
            <a:ext cx="731520" cy="89048"/>
          </a:xfrm>
          <a:prstGeom prst="roundRect">
            <a:avLst>
              <a:gd name="adj" fmla="val 513431"/>
            </a:avLst>
          </a:prstGeom>
          <a:solidFill>
            <a:srgbClr val="0B132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0080" y="6126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sign up as a Consumer (any mobile + OTP 420420), or use +91 97400 00041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WITH A HUMAN 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women are the heart of the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46304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6766560" cy="4297680"/>
          </a:xfrm>
          <a:prstGeom prst="roundRect">
            <a:avLst>
              <a:gd name="adj" fmla="val 2128"/>
            </a:avLst>
          </a:prstGeom>
          <a:solidFill>
            <a:srgbClr val="FEF3C7"/>
          </a:solidFill>
          <a:ln w="15240">
            <a:solidFill>
              <a:srgbClr val="FDE68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874520"/>
            <a:ext cx="6035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 women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6035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employed across 14 self-help groups — sorting, spinning coir and pressing blocks. Steady, dignified income close to home.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Fair, instant earnings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4206240"/>
            <a:ext cx="60350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Payouts land in UPI in real time — no cash cycles, no middlemen. Livelihoods that scale with the city.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35240" y="1691640"/>
            <a:ext cx="1874520" cy="192024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18120" y="2011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12K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818120" y="265176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coir blocks shipped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646920" y="1691640"/>
            <a:ext cx="1874520" cy="192024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829800" y="201168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829800" y="265176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self-help groups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635240" y="3931920"/>
            <a:ext cx="1874520" cy="192024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18120" y="42519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818120" y="4892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CO₂ avoided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646920" y="3931920"/>
            <a:ext cx="1874520" cy="192024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29800" y="4251960"/>
            <a:ext cx="1508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829800" y="4892040"/>
            <a:ext cx="1508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traceable kg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TRACKED, PRICED, PROVABLE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impact, live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46304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240">
            <a:solidFill>
              <a:srgbClr val="D1FA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1,218,490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2395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recycled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at weigh-in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64992" y="16916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24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7872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292,438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3547872" y="2395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kg CO₂ avoided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47872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methane never released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81344" y="16916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240">
            <a:solidFill>
              <a:srgbClr val="D1FA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4224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4,873,960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64224" y="2395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shells diverted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64224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drains &amp; dumps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8997696" y="1691640"/>
            <a:ext cx="26517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524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0576" y="18288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9180576" y="239572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machines live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180576" y="2788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24×7 instant payouts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you can touch — every order shows exactly how much waste it diverted: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4434840"/>
            <a:ext cx="2103120" cy="4551367"/>
          </a:xfrm>
          <a:prstGeom prst="roundRect">
            <a:avLst>
              <a:gd name="adj" fmla="val 3913"/>
            </a:avLst>
          </a:prstGeom>
          <a:solidFill>
            <a:srgbClr val="0B1322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23" name="Image 0" descr=".deck/consumer-order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94466" y="4607792"/>
            <a:ext cx="1960108" cy="4205463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1538021" y="4489456"/>
            <a:ext cx="672998" cy="81925"/>
          </a:xfrm>
          <a:prstGeom prst="roundRect">
            <a:avLst>
              <a:gd name="adj" fmla="val 558071"/>
            </a:avLst>
          </a:prstGeom>
          <a:solidFill>
            <a:srgbClr val="0B1322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657600" y="4434840"/>
            <a:ext cx="7955280" cy="2148840"/>
          </a:xfrm>
          <a:prstGeom prst="roundRect">
            <a:avLst>
              <a:gd name="adj" fmla="val 5106"/>
            </a:avLst>
          </a:prstGeom>
          <a:solidFill>
            <a:srgbClr val="02251F"/>
          </a:solidFill>
          <a:ln/>
        </p:spPr>
      </p:sp>
      <p:sp>
        <p:nvSpPr>
          <p:cNvPr id="26" name="Text 23"/>
          <p:cNvSpPr/>
          <p:nvPr/>
        </p:nvSpPr>
        <p:spPr>
          <a:xfrm>
            <a:off x="4023360" y="4846320"/>
            <a:ext cx="7223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kilo has an owner, a route,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34D3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price and a CO₂ ledger.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IN 60 SECONDS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of the box. No setup, no keys.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1463040" cy="0"/>
          </a:xfrm>
          <a:prstGeom prst="line">
            <a:avLst/>
          </a:prstGeom>
          <a:noFill/>
          <a:ln w="381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600200"/>
            <a:ext cx="7589520" cy="45720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3B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&amp;&amp; npm run dev  →  open http://localhost:3000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286000"/>
          <a:ext cx="67665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33832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Demo phone (OTP 420420)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3B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Generator · Temple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3B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+91 97400 00001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3B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Collector · Ravi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3B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+91 97400 00011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3B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Depot weighbridge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3B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+91 97400 00021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3B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Ops admin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3B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+91 97400 00031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3B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Consumer · Eco shopper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53B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+91 97400 00041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512064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walkthrough: docs/demo-script.md</a:t>
            </a:r>
            <a:endParaRPr lang="en-US" sz="1050" dirty="0"/>
          </a:p>
        </p:txBody>
      </p:sp>
      <p:sp>
        <p:nvSpPr>
          <p:cNvPr id="8" name="Text 5">
            <a:hlinkClick r:id="rId1" tooltip=""/>
          </p:cNvPr>
          <p:cNvSpPr/>
          <p:nvPr/>
        </p:nvSpPr>
        <p:spPr>
          <a:xfrm>
            <a:off x="640080" y="548640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u="sng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github.com/Jagrithn/nariyalre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321040" y="1737360"/>
            <a:ext cx="2743200" cy="5936566"/>
          </a:xfrm>
          <a:prstGeom prst="roundRect">
            <a:avLst>
              <a:gd name="adj" fmla="val 3000"/>
            </a:avLst>
          </a:prstGeom>
          <a:solidFill>
            <a:srgbClr val="0B1322"/>
          </a:solidFill>
          <a:ln w="15240">
            <a:solidFill>
              <a:srgbClr val="334155"/>
            </a:solidFill>
            <a:prstDash val="solid"/>
          </a:ln>
        </p:spPr>
      </p:sp>
      <p:pic>
        <p:nvPicPr>
          <p:cNvPr id="10" name="Image 0" descr=".deck/logi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414309" y="1962950"/>
            <a:ext cx="2556662" cy="5485387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253728" y="1808599"/>
            <a:ext cx="877824" cy="106858"/>
          </a:xfrm>
          <a:prstGeom prst="roundRect">
            <a:avLst>
              <a:gd name="adj" fmla="val 427858"/>
            </a:avLst>
          </a:prstGeom>
          <a:solidFill>
            <a:srgbClr val="0B1322"/>
          </a:solidFill>
          <a:ln w="6350">
            <a:solidFill>
              <a:srgbClr val="334155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225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023360"/>
            <a:ext cx="6400800" cy="6400800"/>
          </a:xfrm>
          <a:prstGeom prst="roundRect">
            <a:avLst>
              <a:gd name="adj" fmla="val 7143"/>
            </a:avLst>
          </a:prstGeom>
          <a:solidFill>
            <a:srgbClr val="059669">
              <a:alpha val="2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9202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that works.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32004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waste, digitised, tracked and priced into a circular economy — with women at its centre.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463040" y="4114800"/>
            <a:ext cx="3017520" cy="914400"/>
          </a:xfrm>
          <a:prstGeom prst="roundRect">
            <a:avLst>
              <a:gd name="adj" fmla="val 50000"/>
            </a:avLst>
          </a:prstGeom>
          <a:solidFill>
            <a:srgbClr val="064E3B">
              <a:alpha val="8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00200" y="42519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 live on Supabase (schema + seed included)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09160" y="4114800"/>
            <a:ext cx="3017520" cy="914400"/>
          </a:xfrm>
          <a:prstGeom prst="roundRect">
            <a:avLst>
              <a:gd name="adj" fmla="val 50000"/>
            </a:avLst>
          </a:prstGeom>
          <a:solidFill>
            <a:srgbClr val="064E3B">
              <a:alpha val="8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42519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 a real UPI PSP into the payments seam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955280" y="4114800"/>
            <a:ext cx="3017520" cy="914400"/>
          </a:xfrm>
          <a:prstGeom prst="roundRect">
            <a:avLst>
              <a:gd name="adj" fmla="val 50000"/>
            </a:avLst>
          </a:prstGeom>
          <a:solidFill>
            <a:srgbClr val="064E3B">
              <a:alpha val="80000"/>
            </a:srgbClr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92440" y="425196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1FA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vending machines &amp; retail kiosks</a:t>
            </a:r>
            <a:endParaRPr lang="en-US" sz="1100" dirty="0"/>
          </a:p>
        </p:txBody>
      </p:sp>
      <p:sp>
        <p:nvSpPr>
          <p:cNvPr id="11" name="Text 9">
            <a:hlinkClick r:id="rId1" tooltip=""/>
          </p:cNvPr>
          <p:cNvSpPr/>
          <p:nvPr/>
        </p:nvSpPr>
        <p:spPr>
          <a:xfrm>
            <a:off x="731520" y="58521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u="sng" dirty="0">
                <a:solidFill>
                  <a:srgbClr val="6EE7B7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Coco · github.com/Jagrithn/nariyalre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Coco — circular bio-resource logistics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 — Waste that works</dc:title>
  <dc:subject>Coco pitch deck</dc:subject>
  <dc:creator>Coco</dc:creator>
  <cp:lastModifiedBy>Coco</cp:lastModifiedBy>
  <cp:revision>1</cp:revision>
  <dcterms:created xsi:type="dcterms:W3CDTF">2026-09-29T18:56:40Z</dcterms:created>
  <dcterms:modified xsi:type="dcterms:W3CDTF">2026-09-29T18:56:40Z</dcterms:modified>
</cp:coreProperties>
</file>